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Ulush</c:v>
                </c:pt>
              </c:strCache>
            </c:strRef>
          </c:tx>
          <c:spPr>
            <a:solidFill>
              <a:srgbClr val="FFC93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C93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C93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C93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18–24</c:v>
                  </c:pt>
                  <c:pt idx="1">
                    <c:v>25–34</c:v>
                  </c:pt>
                  <c:pt idx="2">
                    <c:v>35–44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31</c:v>
                </c:pt>
                <c:pt idx="2">
                  <c:v>27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A2A2B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91922"/>
        </a:solidFill>
        <a:ln>
          <a:noFill/>
        </a:ln>
        <a:effectLst/>
      </c:spPr>
    </c:plotArea>
    <c:plotVisOnly val="1"/>
    <c:dispBlanksAs val="span"/>
  </c:chart>
  <c:spPr>
    <a:solidFill>
      <a:srgbClr val="19192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Davlatlar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FC93C"/>
              </a:solidFill>
              <a:effectLst/>
            </c:spPr>
          </c:dPt>
          <c:dPt>
            <c:idx val="1"/>
            <c:bubble3D val="0"/>
            <c:spPr>
              <a:solidFill>
                <a:srgbClr val="FF3B47"/>
              </a:solidFill>
              <a:effectLst/>
            </c:spPr>
          </c:dPt>
          <c:dPt>
            <c:idx val="2"/>
            <c:bubble3D val="0"/>
            <c:spPr>
              <a:solidFill>
                <a:srgbClr val="5B8DEF"/>
              </a:solidFill>
              <a:effectLst/>
            </c:spPr>
          </c:dPt>
          <c:dPt>
            <c:idx val="3"/>
            <c:bubble3D val="0"/>
            <c:spPr>
              <a:solidFill>
                <a:srgbClr val="8C8CA6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0D0D14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0D0D14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0D0D14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&quot;%&quot;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0D0D14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O‘zbekiston</c:v>
                </c:pt>
                <c:pt idx="1">
                  <c:v>Rossiya</c:v>
                </c:pt>
                <c:pt idx="2">
                  <c:v>Qirg‘iziston</c:v>
                </c:pt>
                <c:pt idx="3">
                  <c:v>Boshqa davlatlar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72</c:v>
                </c:pt>
                <c:pt idx="1">
                  <c:v>17</c:v>
                </c:pt>
                <c:pt idx="2">
                  <c:v>2</c:v>
                </c:pt>
                <c:pt idx="3">
                  <c:v>9</c:v>
                </c:pt>
              </c:numCache>
            </c:numRef>
          </c:val>
        </c:ser>
        <c:firstSliceAng val="0"/>
        <c:holeSize val="62"/>
      </c:doughnutChart>
      <c:spPr>
        <a:solidFill>
          <a:srgbClr val="191922"/>
        </a:solidFill>
        <a:ln>
          <a:noFill/>
        </a:ln>
        <a:effectLst/>
      </c:spPr>
    </c:plotArea>
    <c:plotVisOnly val="1"/>
    <c:dispBlanksAs val="span"/>
  </c:chart>
  <c:spPr>
    <a:solidFill>
      <a:srgbClr val="19192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0:00–0:10 | Kirish. Kamera 1 (umumiy plan).
Jalol: Assalomu alaykum! Sarvar: Assalomu alaykum!
Jalol: Biz sizlarga Mergan Production’ning yangi loyihasi — «Shunaqasi ham bo‘p turadi» komedik yashirin kamera shousini taqdim etamiz.
Montaj: loyiha logotipi, dynamic intro, studio kadrlari, Mergan Production logotipi.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0:10–0:25 | Loyiha haqida. Kamera 2.
Sarvar: Ushbu loyiha O‘zbekistonning mashhur estrada xonandalari, aktyorlari, blogerlari va taniqli shaxslariga uyushtiriladigan komedik yashirin kamera ko‘rsatuvidir.
Montaj: mashhur mehmonlar, yashirin kamera, kulgili reaksiyalar, prank jarayonlari.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0:25–0:40 | Format. Kamera 1.
Jalol: Har bir original son 15–20 daqiqa davom etadi va har hafta shanba kuni YouTube kanalimizda e’lon qilinadi.
Grafika: 15–20 daqiqa · Har hafta — Shanba · Oyiga 4 ta original son · Yiliga 48 ta original 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0:40–0:55 | YouTube kanali. Kamera 2.
Sarvar: Bugungi kunda Mergan Production YouTube kanalida 62 mingdan ortiq obunachi mavjud va kanalimizdagi kontent millionlab tomoshabinlarga yetib bormoqda.
Grafika: 62 400+ obunachi · YouTube Subscriber Counter.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0:55–1:15 | Statistika. Kamera 1.
Jalol: Kanalimizdagi videolar millionlab ko‘rishlarga erishgan va auditoriyamiz faol hamda organik tarzda shakllangan.
Grafika: 3,6 mln+ · 1 mln+ · 200 ming+.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0:55–1:15 | Statistika (davomi).
Auditoriya: erkaklar — 83%, ayollar — 16%.
Yosh: 18–24 — 14%, 25–34 — 31%, 35–44 — 27%.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0:55–1:15 | Statistika (davomi).
Davlatlar: O‘zbekiston — 72%, Rossiya — 17%, Qirg‘iziston — 2%. Qolgan ulush — boshqa davlatlar.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1:15–1:35 | Hamkorlik imkoniyatlari. Kamera 2.
Sarvar: Loyiha davomida homiy yoki hamkor brendi voqealar rivoji, studiya suhbati hamda sovg‘a topshirish jarayonida tabiiy tarzda namoyish etiladi.
Grafika: Product Placement · Logo · Boshlovchi tavsiyasi · Studio integratsiyasi · Sovg‘a topshirish.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1:35–1:50 | Qo‘shimcha qiymat. Kamera 1.
Jalol: Homiy yoki hamkor mashhur mehmon bilan tayyorlangan foto va video materiallardan o‘zining reklama kampaniyalari va ijtimoiy tarmoqlarida foydalanish huquqiga ega bo‘ladi.
Grafika: Instagram · Facebook · Telegram · YouTube · TikTok · LED ekranlar · Billboard.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Xulosaviy blok — homiy uchun asosiy argumentlar. Senariyning 1:50 dan oldingi qismida grafik tarzda ishlatilishi mumkin.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1:50–2:05 | Yakun. Kamera 1 + Kamera 2.
Sarvar: Agar siz ham brendingizni millionlab tomoshabinlarga zamonaviy va tabiiy formatda tanitishni istasangiz...
Jalol: Sizni «Shunaqasi ham bo‘p turadi» loyihasining rasmiy hamkori bo‘lishga taklif qilamiz.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2:05–2:15 | Kontakt. Qora fon.
MERGAN PRODUCTION · SHUNAQASI HAM BO‘P TURADI
Telefon: +998 95 124 44 84 · YouTube: Mergan Production
Yakuniy logotip animatsiyasi.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60920" y="1234440"/>
            <a:ext cx="4389120" cy="43891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96012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MERGAN PRODUCTION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1389888"/>
            <a:ext cx="6309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SHUNAQASI HAM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BO‘P TURADI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640080" y="320040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Komedik yashirin kamera ko‘rsatuvi — O‘zbekistonning mashhur shaxslari ishtirokida.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40080" y="42062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62 400+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40080" y="46177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obunachi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2743200" y="42062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2743200" y="46177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son — yiliga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4846320" y="420624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3,6 mln+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4846320" y="46177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 yuqori ko‘rish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5349240"/>
            <a:ext cx="4434840" cy="868680"/>
          </a:xfrm>
          <a:prstGeom prst="roundRect">
            <a:avLst>
              <a:gd name="adj" fmla="val 12632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68680" y="5559552"/>
            <a:ext cx="457200" cy="457200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" y="5687568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508760" y="55321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KOMMERSIYA TAKLIFI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1508760" y="5806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Homiylik va hamkorlik dasturi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LOYIHA HAQIDA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8686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Yulduzlar ustidan komedik prank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Ushbu loyiha O‘zbekistonning mashhur estrada xonandalari, aktyorlari, blogerlari va taniqli shaxslariga uyushtiriladigan komedik yashirin kamera ko‘rsatuvidir.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4297680"/>
            <a:ext cx="4754880" cy="1371600"/>
          </a:xfrm>
          <a:prstGeom prst="roundRect">
            <a:avLst>
              <a:gd name="adj" fmla="val 6667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4617720"/>
            <a:ext cx="640080" cy="640080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9342" y="4796942"/>
            <a:ext cx="281635" cy="28163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83080" y="45537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Kutilmagan vaziyat — samimiy reaksiya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783080" y="50749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Kontentning asosiy kuchi — o‘ynalmagan emotsiya.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806440" y="1783080"/>
            <a:ext cx="2734056" cy="1828800"/>
          </a:xfrm>
          <a:prstGeom prst="roundRect">
            <a:avLst>
              <a:gd name="adj" fmla="val 5000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080760" y="2039112"/>
            <a:ext cx="621792" cy="621792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862" y="2213214"/>
            <a:ext cx="273588" cy="2735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080760" y="2743200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Mashhur mehmonlar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6080760" y="3026664"/>
            <a:ext cx="21854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Xonandalar, aktyorlar va blogerlar.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814816" y="1783080"/>
            <a:ext cx="2734056" cy="1828800"/>
          </a:xfrm>
          <a:prstGeom prst="roundRect">
            <a:avLst>
              <a:gd name="adj" fmla="val 5000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9089136" y="2039112"/>
            <a:ext cx="621792" cy="621792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3238" y="2213214"/>
            <a:ext cx="273588" cy="27358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089136" y="2743200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Yashirin kamera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9089136" y="3026664"/>
            <a:ext cx="21854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Mehmon uchun kutilmagan vaziyat.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5806440" y="3840480"/>
            <a:ext cx="2734056" cy="1828800"/>
          </a:xfrm>
          <a:prstGeom prst="roundRect">
            <a:avLst>
              <a:gd name="adj" fmla="val 5000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080760" y="4096512"/>
            <a:ext cx="621792" cy="621792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862" y="4270614"/>
            <a:ext cx="273588" cy="27358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080760" y="4800600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Kulgili reaksiyalar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6080760" y="5084064"/>
            <a:ext cx="21854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Tabiiy, o‘ynalmagan emotsiyalar.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8814816" y="3840480"/>
            <a:ext cx="2734056" cy="1828800"/>
          </a:xfrm>
          <a:prstGeom prst="roundRect">
            <a:avLst>
              <a:gd name="adj" fmla="val 5000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089136" y="4096512"/>
            <a:ext cx="621792" cy="621792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3238" y="4270614"/>
            <a:ext cx="273588" cy="27358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089136" y="4800600"/>
            <a:ext cx="218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Prank jarayoni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9089136" y="5084064"/>
            <a:ext cx="21854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Puxta senariy va professional prodakshn.</a:t>
            </a:r>
            <a:endParaRPr lang="en-US" sz="1150" dirty="0"/>
          </a:p>
        </p:txBody>
      </p:sp>
      <p:sp>
        <p:nvSpPr>
          <p:cNvPr id="30" name="Text 23"/>
          <p:cNvSpPr/>
          <p:nvPr/>
        </p:nvSpPr>
        <p:spPr>
          <a:xfrm>
            <a:off x="64008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MERGAN PRODUCTION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0454335" y="6272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FORMAT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7315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 hafta — yangi son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bir original son 15–20 daqiqa davom etadi va har hafta shanba kuni Mergan Production YouTube kanalida e’lon qilinadi.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2522144" cy="2377440"/>
          </a:xfrm>
          <a:prstGeom prst="roundRect">
            <a:avLst>
              <a:gd name="adj" fmla="val 3846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2688" y="2761488"/>
            <a:ext cx="658368" cy="658368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7031" y="2945831"/>
            <a:ext cx="289682" cy="28968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32688" y="3566160"/>
            <a:ext cx="193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15–20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932688" y="4160520"/>
            <a:ext cx="193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daqiqa davomiylik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436544" y="2468880"/>
            <a:ext cx="2522144" cy="2377440"/>
          </a:xfrm>
          <a:prstGeom prst="roundRect">
            <a:avLst>
              <a:gd name="adj" fmla="val 3846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729152" y="2761488"/>
            <a:ext cx="658368" cy="658368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3495" y="2945831"/>
            <a:ext cx="289682" cy="28968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29152" y="3566160"/>
            <a:ext cx="193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Shanba</a:t>
            </a:r>
            <a:endParaRPr lang="en-US" sz="3200" dirty="0"/>
          </a:p>
        </p:txBody>
      </p:sp>
      <p:sp>
        <p:nvSpPr>
          <p:cNvPr id="14" name="Text 10"/>
          <p:cNvSpPr/>
          <p:nvPr/>
        </p:nvSpPr>
        <p:spPr>
          <a:xfrm>
            <a:off x="3729152" y="4160520"/>
            <a:ext cx="193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haftalik chiqish kuni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233008" y="2468880"/>
            <a:ext cx="2522144" cy="2377440"/>
          </a:xfrm>
          <a:prstGeom prst="roundRect">
            <a:avLst>
              <a:gd name="adj" fmla="val 3846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525616" y="2761488"/>
            <a:ext cx="658368" cy="658368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959" y="2945831"/>
            <a:ext cx="289682" cy="28968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525616" y="3566160"/>
            <a:ext cx="193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200" dirty="0"/>
          </a:p>
        </p:txBody>
      </p:sp>
      <p:sp>
        <p:nvSpPr>
          <p:cNvPr id="19" name="Text 14"/>
          <p:cNvSpPr/>
          <p:nvPr/>
        </p:nvSpPr>
        <p:spPr>
          <a:xfrm>
            <a:off x="6525616" y="4160520"/>
            <a:ext cx="193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son — oyiga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9029471" y="2468880"/>
            <a:ext cx="2522144" cy="2377440"/>
          </a:xfrm>
          <a:prstGeom prst="roundRect">
            <a:avLst>
              <a:gd name="adj" fmla="val 3846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322079" y="2761488"/>
            <a:ext cx="658368" cy="658368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6422" y="2945831"/>
            <a:ext cx="289682" cy="28968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322079" y="3566160"/>
            <a:ext cx="193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3200" dirty="0"/>
          </a:p>
        </p:txBody>
      </p:sp>
      <p:sp>
        <p:nvSpPr>
          <p:cNvPr id="24" name="Text 18"/>
          <p:cNvSpPr/>
          <p:nvPr/>
        </p:nvSpPr>
        <p:spPr>
          <a:xfrm>
            <a:off x="9322079" y="4160520"/>
            <a:ext cx="193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son — yiliga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640080" y="5166360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212130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960120" y="5367528"/>
            <a:ext cx="10271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Barqaror chiqish grafigi — hamkor brend butun yil davomida efirda ko‘rinadi.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64008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MERGAN PRODUCTION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0454335" y="6272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YOUTUBE KANALI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7315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 mingdan ortiq obunachi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074920" cy="4114800"/>
          </a:xfrm>
          <a:prstGeom prst="roundRect">
            <a:avLst>
              <a:gd name="adj" fmla="val 2222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2148840"/>
            <a:ext cx="777240" cy="777240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9187" y="2366467"/>
            <a:ext cx="341986" cy="3419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310896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62 400+</a:t>
            </a:r>
            <a:endParaRPr lang="en-US" sz="5800" dirty="0"/>
          </a:p>
        </p:txBody>
      </p:sp>
      <p:sp>
        <p:nvSpPr>
          <p:cNvPr id="8" name="Text 5"/>
          <p:cNvSpPr/>
          <p:nvPr/>
        </p:nvSpPr>
        <p:spPr>
          <a:xfrm>
            <a:off x="1051560" y="40690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OBUNACHI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51560" y="44348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Mergan Production rasmiy YouTube kanali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051560" y="4983480"/>
            <a:ext cx="4251960" cy="9144"/>
          </a:xfrm>
          <a:prstGeom prst="rect">
            <a:avLst/>
          </a:prstGeom>
          <a:solidFill>
            <a:srgbClr val="2E2E3D"/>
          </a:solidFill>
          <a:ln w="6350">
            <a:solidFill>
              <a:srgbClr val="2E2E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51560" y="5138928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C6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Obunachilar bazasi har bir yangi son bilan kengayib bormoqda.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035040" y="1783080"/>
            <a:ext cx="5513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Bugungi kunda Mergan Production YouTube kanalida 62 mingdan ortiq obunachi mavjud va kanalimizdagi kontent millionlab tomoshabinlarga yetib bormoqda.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035040" y="3200400"/>
            <a:ext cx="5513832" cy="1234440"/>
          </a:xfrm>
          <a:prstGeom prst="roundRect">
            <a:avLst>
              <a:gd name="adj" fmla="val 7407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309360" y="3493008"/>
            <a:ext cx="640080" cy="640080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8582" y="3672230"/>
            <a:ext cx="281635" cy="28163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0" y="343814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Millionlab tomoshabin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7132320" y="376732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Kontent kanal doirasidan tashqariga chiqib, keng auditoriyaga yetib boradi.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035040" y="4617720"/>
            <a:ext cx="5513832" cy="1234440"/>
          </a:xfrm>
          <a:prstGeom prst="roundRect">
            <a:avLst>
              <a:gd name="adj" fmla="val 7407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09360" y="4910328"/>
            <a:ext cx="640080" cy="640080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8582" y="5089550"/>
            <a:ext cx="281635" cy="281635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7132320" y="485546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Organik o‘sish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7132320" y="518464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Auditoriya sun’iy usullarsiz, kontent sifati hisobiga shakllangan.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64008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MERGAN PRODUCTION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0454335" y="6272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KO‘RSATKICHLAR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7315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Millionlab ko‘rishlar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Kanalimizdagi videolar millionlab ko‘rishlarga erishgan — auditoriyamiz faol hamda organik tarzda shakllangan.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3454298" cy="3108960"/>
          </a:xfrm>
          <a:prstGeom prst="roundRect">
            <a:avLst>
              <a:gd name="adj" fmla="val 2941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87552" y="2852928"/>
            <a:ext cx="731520" cy="731520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2378" y="3057754"/>
            <a:ext cx="321869" cy="32186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87552" y="3886200"/>
            <a:ext cx="27593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3,6 mln+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987552" y="4617720"/>
            <a:ext cx="27593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 yuqori ko‘rish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987552" y="4956048"/>
            <a:ext cx="27593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Bitta videoning rekord natijasi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68698" y="2468880"/>
            <a:ext cx="3454298" cy="3108960"/>
          </a:xfrm>
          <a:prstGeom prst="roundRect">
            <a:avLst>
              <a:gd name="adj" fmla="val 2941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16170" y="2852928"/>
            <a:ext cx="731520" cy="731520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0996" y="3057754"/>
            <a:ext cx="321869" cy="32186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716170" y="3886200"/>
            <a:ext cx="27593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mln+</a:t>
            </a:r>
            <a:endParaRPr lang="en-US" sz="3800" dirty="0"/>
          </a:p>
        </p:txBody>
      </p:sp>
      <p:sp>
        <p:nvSpPr>
          <p:cNvPr id="15" name="Text 11"/>
          <p:cNvSpPr/>
          <p:nvPr/>
        </p:nvSpPr>
        <p:spPr>
          <a:xfrm>
            <a:off x="4716170" y="4617720"/>
            <a:ext cx="27593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Millionlik videolar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4716170" y="4956048"/>
            <a:ext cx="27593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Muntazam takrorlanadigan daraja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097317" y="2468880"/>
            <a:ext cx="3454298" cy="3108960"/>
          </a:xfrm>
          <a:prstGeom prst="roundRect">
            <a:avLst>
              <a:gd name="adj" fmla="val 2941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44789" y="2852928"/>
            <a:ext cx="731520" cy="731520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9614" y="3057754"/>
            <a:ext cx="321869" cy="32186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44789" y="3886200"/>
            <a:ext cx="27593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ming+</a:t>
            </a:r>
            <a:endParaRPr lang="en-US" sz="3800" dirty="0"/>
          </a:p>
        </p:txBody>
      </p:sp>
      <p:sp>
        <p:nvSpPr>
          <p:cNvPr id="21" name="Text 16"/>
          <p:cNvSpPr/>
          <p:nvPr/>
        </p:nvSpPr>
        <p:spPr>
          <a:xfrm>
            <a:off x="8444789" y="4617720"/>
            <a:ext cx="27593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Barqaror ko‘rish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8444789" y="4956048"/>
            <a:ext cx="27593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bir yangi son uchun asos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64008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MERGAN PRODUCTION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0454335" y="6272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AUDITORIYA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7315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 tomosha qiladi?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4572000" cy="4251960"/>
          </a:xfrm>
          <a:prstGeom prst="roundRect">
            <a:avLst>
              <a:gd name="adj" fmla="val 2151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Jins bo‘yicha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05840" y="2468880"/>
            <a:ext cx="640080" cy="640080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5062" y="2648102"/>
            <a:ext cx="281635" cy="28163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83080" y="25237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Erkaklar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2743200" y="243230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83%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1005840" y="3218688"/>
            <a:ext cx="3840480" cy="146304"/>
          </a:xfrm>
          <a:prstGeom prst="roundRect">
            <a:avLst>
              <a:gd name="adj" fmla="val 50000"/>
            </a:avLst>
          </a:prstGeom>
          <a:solidFill>
            <a:srgbClr val="212130"/>
          </a:solidFill>
          <a:ln w="6350">
            <a:solidFill>
              <a:srgbClr val="21213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5840" y="3218688"/>
            <a:ext cx="3187598" cy="146304"/>
          </a:xfrm>
          <a:prstGeom prst="roundRect">
            <a:avLst>
              <a:gd name="adj" fmla="val 50000"/>
            </a:avLst>
          </a:prstGeom>
          <a:solidFill>
            <a:srgbClr val="FFC93C"/>
          </a:solidFill>
          <a:ln w="6350">
            <a:solidFill>
              <a:srgbClr val="FFC93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05840" y="3794760"/>
            <a:ext cx="640080" cy="640080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062" y="3973982"/>
            <a:ext cx="281635" cy="28163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783080" y="384962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Ayollar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2743200" y="375818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3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16%</a:t>
            </a:r>
            <a:endParaRPr lang="en-US" sz="2600" dirty="0"/>
          </a:p>
        </p:txBody>
      </p:sp>
      <p:sp>
        <p:nvSpPr>
          <p:cNvPr id="16" name="Shape 12"/>
          <p:cNvSpPr/>
          <p:nvPr/>
        </p:nvSpPr>
        <p:spPr>
          <a:xfrm>
            <a:off x="1005840" y="4544568"/>
            <a:ext cx="3840480" cy="146304"/>
          </a:xfrm>
          <a:prstGeom prst="roundRect">
            <a:avLst>
              <a:gd name="adj" fmla="val 50000"/>
            </a:avLst>
          </a:prstGeom>
          <a:solidFill>
            <a:srgbClr val="212130"/>
          </a:solidFill>
          <a:ln w="6350">
            <a:solidFill>
              <a:srgbClr val="21213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005840" y="4544568"/>
            <a:ext cx="614477" cy="146304"/>
          </a:xfrm>
          <a:prstGeom prst="roundRect">
            <a:avLst>
              <a:gd name="adj" fmla="val 50000"/>
            </a:avLst>
          </a:prstGeom>
          <a:solidFill>
            <a:srgbClr val="FF3B47"/>
          </a:solidFill>
          <a:ln w="6350">
            <a:solidFill>
              <a:srgbClr val="FF3B4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05840" y="52303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C6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Qolgan 1% — jinsi aniqlanmagan tomoshabinlar.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5577840" y="1691640"/>
            <a:ext cx="5971032" cy="4251960"/>
          </a:xfrm>
          <a:prstGeom prst="roundRect">
            <a:avLst>
              <a:gd name="adj" fmla="val 2151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943600" y="19659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Yosh bo‘yicha taqsimot</a:t>
            </a:r>
            <a:endParaRPr lang="en-US" sz="14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5806440" y="2377440"/>
          <a:ext cx="5513832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2" name="Text 17"/>
          <p:cNvSpPr/>
          <p:nvPr/>
        </p:nvSpPr>
        <p:spPr>
          <a:xfrm>
            <a:off x="5943600" y="523036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6C6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Asosiy auditoriya — 25–44 yosh: to‘lovga qodir, faol iste’molchi qatlam.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64008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MERGAN PRODUCTION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0454335" y="6272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GEOGRAFIYA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8686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Auditoriya qayerdan tomosha qiladi?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577840" cy="4023360"/>
          </a:xfrm>
          <a:prstGeom prst="roundRect">
            <a:avLst>
              <a:gd name="adj" fmla="val 2273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868680" y="201168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537960" y="1783080"/>
            <a:ext cx="5010912" cy="4023360"/>
          </a:xfrm>
          <a:prstGeom prst="roundRect">
            <a:avLst>
              <a:gd name="adj" fmla="val 2273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0" y="2103120"/>
            <a:ext cx="658368" cy="658368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2343" y="2287463"/>
            <a:ext cx="289682" cy="28968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680960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Asosiy bozor — O‘zbekiston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858000" y="3246120"/>
            <a:ext cx="146304" cy="146304"/>
          </a:xfrm>
          <a:prstGeom prst="ellipse">
            <a:avLst/>
          </a:prstGeom>
          <a:solidFill>
            <a:srgbClr val="FFC93C"/>
          </a:solidFill>
          <a:ln w="6350">
            <a:solidFill>
              <a:srgbClr val="FFC93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178040" y="315468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O‘zbekiston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692640" y="31363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72%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858000" y="3611880"/>
            <a:ext cx="4389120" cy="9144"/>
          </a:xfrm>
          <a:prstGeom prst="rect">
            <a:avLst/>
          </a:prstGeom>
          <a:solidFill>
            <a:srgbClr val="2E2E3D"/>
          </a:solidFill>
          <a:ln w="6350">
            <a:solidFill>
              <a:srgbClr val="2E2E3D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858000" y="3867912"/>
            <a:ext cx="146304" cy="146304"/>
          </a:xfrm>
          <a:prstGeom prst="ellipse">
            <a:avLst/>
          </a:prstGeom>
          <a:solidFill>
            <a:srgbClr val="FF3B47"/>
          </a:solidFill>
          <a:ln w="6350">
            <a:solidFill>
              <a:srgbClr val="FF3B4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178040" y="377647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Rossiya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9692640" y="375818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3B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17%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6858000" y="4233672"/>
            <a:ext cx="4389120" cy="9144"/>
          </a:xfrm>
          <a:prstGeom prst="rect">
            <a:avLst/>
          </a:prstGeom>
          <a:solidFill>
            <a:srgbClr val="2E2E3D"/>
          </a:solidFill>
          <a:ln w="6350">
            <a:solidFill>
              <a:srgbClr val="2E2E3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858000" y="4489704"/>
            <a:ext cx="146304" cy="146304"/>
          </a:xfrm>
          <a:prstGeom prst="ellipse">
            <a:avLst/>
          </a:prstGeom>
          <a:solidFill>
            <a:srgbClr val="5B8DEF"/>
          </a:solidFill>
          <a:ln w="6350">
            <a:solidFill>
              <a:srgbClr val="5B8DE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178040" y="439826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Qirg‘iziston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9692640" y="437997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6858000" y="4855464"/>
            <a:ext cx="4389120" cy="9144"/>
          </a:xfrm>
          <a:prstGeom prst="rect">
            <a:avLst/>
          </a:prstGeom>
          <a:solidFill>
            <a:srgbClr val="2E2E3D"/>
          </a:solidFill>
          <a:ln w="6350">
            <a:solidFill>
              <a:srgbClr val="2E2E3D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858000" y="5111496"/>
            <a:ext cx="146304" cy="146304"/>
          </a:xfrm>
          <a:prstGeom prst="ellipse">
            <a:avLst/>
          </a:prstGeom>
          <a:solidFill>
            <a:srgbClr val="8C8CA6"/>
          </a:solidFill>
          <a:ln w="6350">
            <a:solidFill>
              <a:srgbClr val="8C8CA6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178040" y="502005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Boshqa davlatlar</a:t>
            </a:r>
            <a:endParaRPr lang="en-US" sz="1400" dirty="0"/>
          </a:p>
        </p:txBody>
      </p:sp>
      <p:sp>
        <p:nvSpPr>
          <p:cNvPr id="24" name="Text 20"/>
          <p:cNvSpPr/>
          <p:nvPr/>
        </p:nvSpPr>
        <p:spPr>
          <a:xfrm>
            <a:off x="9692640" y="500176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2A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9%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64008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MERGAN PRODUCTION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10454335" y="6272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· HAMKORLIK IMKONIYATLARI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8686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Brendingiz voqea ichida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Loyiha davomida homiy yoki hamkor brendi voqealar rivoji, studiya suhbati hamda sovg‘a topshirish jarayonida tabiiy tarzda namoyish etiladi.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3454298" cy="1783080"/>
          </a:xfrm>
          <a:prstGeom prst="roundRect">
            <a:avLst>
              <a:gd name="adj" fmla="val 5128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2688" y="2478024"/>
            <a:ext cx="603504" cy="603504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669" y="2647005"/>
            <a:ext cx="265542" cy="26554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32688" y="3154680"/>
            <a:ext cx="28690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Placement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32688" y="3447288"/>
            <a:ext cx="28690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Mahsulot voqea rivojining tabiiy qismiga aylanadi.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68698" y="2240280"/>
            <a:ext cx="3454298" cy="1783080"/>
          </a:xfrm>
          <a:prstGeom prst="roundRect">
            <a:avLst>
              <a:gd name="adj" fmla="val 5128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61306" y="2478024"/>
            <a:ext cx="603504" cy="603504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0288" y="2647005"/>
            <a:ext cx="265542" cy="26554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61306" y="3154680"/>
            <a:ext cx="28690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Logotip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661306" y="3447288"/>
            <a:ext cx="28690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Brend logotipi video davomida va grafikada ko‘rinadi.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097317" y="2240280"/>
            <a:ext cx="3454298" cy="1783080"/>
          </a:xfrm>
          <a:prstGeom prst="roundRect">
            <a:avLst>
              <a:gd name="adj" fmla="val 5128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89925" y="2478024"/>
            <a:ext cx="603504" cy="603504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906" y="2647005"/>
            <a:ext cx="265542" cy="26554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89925" y="3154680"/>
            <a:ext cx="28690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Boshlovchi tavsiyasi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389925" y="3447288"/>
            <a:ext cx="28690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Jalol va Sarvar tomonidan jonli, ishonchli tavsiya.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40080" y="4251960"/>
            <a:ext cx="3454298" cy="1783080"/>
          </a:xfrm>
          <a:prstGeom prst="roundRect">
            <a:avLst>
              <a:gd name="adj" fmla="val 5128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32688" y="4489704"/>
            <a:ext cx="603504" cy="603504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669" y="4658685"/>
            <a:ext cx="265542" cy="26554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32688" y="5166360"/>
            <a:ext cx="28690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integratsiyasi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32688" y="5458968"/>
            <a:ext cx="28690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Studiya suhbatida brend haqida alohida blok.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4368698" y="4251960"/>
            <a:ext cx="3454298" cy="1783080"/>
          </a:xfrm>
          <a:prstGeom prst="roundRect">
            <a:avLst>
              <a:gd name="adj" fmla="val 5128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4661306" y="4489704"/>
            <a:ext cx="603504" cy="603504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0288" y="4658685"/>
            <a:ext cx="265542" cy="26554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661306" y="5166360"/>
            <a:ext cx="28690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Sovg‘a topshirish</a:t>
            </a:r>
            <a:endParaRPr lang="en-US" sz="1500" dirty="0"/>
          </a:p>
        </p:txBody>
      </p:sp>
      <p:sp>
        <p:nvSpPr>
          <p:cNvPr id="29" name="Text 22"/>
          <p:cNvSpPr/>
          <p:nvPr/>
        </p:nvSpPr>
        <p:spPr>
          <a:xfrm>
            <a:off x="4661306" y="5458968"/>
            <a:ext cx="28690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Mehmonlarga brend sovg‘alari efir davomida topshiriladi.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8097317" y="4251960"/>
            <a:ext cx="3454298" cy="1783080"/>
          </a:xfrm>
          <a:prstGeom prst="roundRect">
            <a:avLst>
              <a:gd name="adj" fmla="val 5128"/>
            </a:avLst>
          </a:prstGeom>
          <a:solidFill>
            <a:srgbClr val="FF3B47"/>
          </a:solidFill>
          <a:ln w="9525">
            <a:solidFill>
              <a:srgbClr val="FF3B47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8389925" y="4562856"/>
            <a:ext cx="286908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 bir son —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yangi imkoniyat</a:t>
            </a:r>
            <a:endParaRPr lang="en-US" sz="1900" dirty="0"/>
          </a:p>
        </p:txBody>
      </p:sp>
      <p:sp>
        <p:nvSpPr>
          <p:cNvPr id="32" name="Text 25"/>
          <p:cNvSpPr/>
          <p:nvPr/>
        </p:nvSpPr>
        <p:spPr>
          <a:xfrm>
            <a:off x="8389925" y="5458968"/>
            <a:ext cx="2869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E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Formatlar birgalikda ham qo‘llaniladi</a:t>
            </a:r>
            <a:endParaRPr lang="en-US" sz="1200" dirty="0"/>
          </a:p>
        </p:txBody>
      </p:sp>
      <p:sp>
        <p:nvSpPr>
          <p:cNvPr id="33" name="Text 26"/>
          <p:cNvSpPr/>
          <p:nvPr/>
        </p:nvSpPr>
        <p:spPr>
          <a:xfrm>
            <a:off x="64008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MERGAN PRODUCTION</a:t>
            </a:r>
            <a:endParaRPr lang="en-US" sz="900" dirty="0"/>
          </a:p>
        </p:txBody>
      </p:sp>
      <p:sp>
        <p:nvSpPr>
          <p:cNvPr id="34" name="Text 27"/>
          <p:cNvSpPr/>
          <p:nvPr/>
        </p:nvSpPr>
        <p:spPr>
          <a:xfrm>
            <a:off x="10454335" y="6272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· QO‘SHIMCHA QIYMAT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8686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Kontentdan foydalanish huquqi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4663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Homiy yoki hamkor mashhur mehmon bilan tayyorlangan foto va video materiallardan o‘zining reklama kampaniyalari hamda ijtimoiy tarmoqlarida foydalanish huquqiga ega bo‘ladi.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4343400"/>
            <a:ext cx="4663440" cy="1600200"/>
          </a:xfrm>
          <a:prstGeom prst="roundRect">
            <a:avLst>
              <a:gd name="adj" fmla="val 5714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2688" y="4645152"/>
            <a:ext cx="640080" cy="640080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910" y="4824374"/>
            <a:ext cx="281635" cy="28163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55648" y="464515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Yulduz bilan kontent — qo‘shimcha to‘lovsiz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32688" y="534924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marta suratga olingan material — o‘nlab reklama nuqtasida ishlaydi.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0" y="1783080"/>
            <a:ext cx="5879592" cy="4160520"/>
          </a:xfrm>
          <a:prstGeom prst="roundRect">
            <a:avLst>
              <a:gd name="adj" fmla="val 2198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0574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FOYDALANISH KANALLARI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89320" y="2514600"/>
            <a:ext cx="1627632" cy="868680"/>
          </a:xfrm>
          <a:prstGeom prst="roundRect">
            <a:avLst>
              <a:gd name="adj" fmla="val 9474"/>
            </a:avLst>
          </a:prstGeom>
          <a:solidFill>
            <a:srgbClr val="212130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770632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611112" y="2788920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799832" y="2514600"/>
            <a:ext cx="1627632" cy="868680"/>
          </a:xfrm>
          <a:prstGeom prst="roundRect">
            <a:avLst>
              <a:gd name="adj" fmla="val 9474"/>
            </a:avLst>
          </a:prstGeom>
          <a:solidFill>
            <a:srgbClr val="212130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2712" y="2770632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21624" y="2788920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9610344" y="2514600"/>
            <a:ext cx="1627632" cy="868680"/>
          </a:xfrm>
          <a:prstGeom prst="roundRect">
            <a:avLst>
              <a:gd name="adj" fmla="val 9474"/>
            </a:avLst>
          </a:prstGeom>
          <a:solidFill>
            <a:srgbClr val="212130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3224" y="2770632"/>
            <a:ext cx="365760" cy="36576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0232136" y="2788920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989320" y="3566160"/>
            <a:ext cx="1627632" cy="868680"/>
          </a:xfrm>
          <a:prstGeom prst="roundRect">
            <a:avLst>
              <a:gd name="adj" fmla="val 9474"/>
            </a:avLst>
          </a:prstGeom>
          <a:solidFill>
            <a:srgbClr val="212130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3822192"/>
            <a:ext cx="365760" cy="36576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611112" y="3840480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7799832" y="3566160"/>
            <a:ext cx="1627632" cy="868680"/>
          </a:xfrm>
          <a:prstGeom prst="roundRect">
            <a:avLst>
              <a:gd name="adj" fmla="val 9474"/>
            </a:avLst>
          </a:prstGeom>
          <a:solidFill>
            <a:srgbClr val="212130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2712" y="3822192"/>
            <a:ext cx="365760" cy="36576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8421624" y="3840480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</a:t>
            </a:r>
            <a:endParaRPr lang="en-US" sz="1150" dirty="0"/>
          </a:p>
        </p:txBody>
      </p:sp>
      <p:sp>
        <p:nvSpPr>
          <p:cNvPr id="27" name="Shape 19"/>
          <p:cNvSpPr/>
          <p:nvPr/>
        </p:nvSpPr>
        <p:spPr>
          <a:xfrm>
            <a:off x="9610344" y="3566160"/>
            <a:ext cx="1627632" cy="868680"/>
          </a:xfrm>
          <a:prstGeom prst="roundRect">
            <a:avLst>
              <a:gd name="adj" fmla="val 9474"/>
            </a:avLst>
          </a:prstGeom>
          <a:solidFill>
            <a:srgbClr val="212130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93224" y="3822192"/>
            <a:ext cx="365760" cy="36576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0232136" y="3840480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ekran</a:t>
            </a:r>
            <a:endParaRPr lang="en-US" sz="1150" dirty="0"/>
          </a:p>
        </p:txBody>
      </p:sp>
      <p:sp>
        <p:nvSpPr>
          <p:cNvPr id="30" name="Shape 21"/>
          <p:cNvSpPr/>
          <p:nvPr/>
        </p:nvSpPr>
        <p:spPr>
          <a:xfrm>
            <a:off x="5989320" y="4617720"/>
            <a:ext cx="1627632" cy="868680"/>
          </a:xfrm>
          <a:prstGeom prst="roundRect">
            <a:avLst>
              <a:gd name="adj" fmla="val 9474"/>
            </a:avLst>
          </a:prstGeom>
          <a:solidFill>
            <a:srgbClr val="212130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72200" y="4873752"/>
            <a:ext cx="365760" cy="365760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6611112" y="4892040"/>
            <a:ext cx="896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Billboard</a:t>
            </a:r>
            <a:endParaRPr lang="en-US" sz="1150" dirty="0"/>
          </a:p>
        </p:txBody>
      </p:sp>
      <p:sp>
        <p:nvSpPr>
          <p:cNvPr id="33" name="Text 23"/>
          <p:cNvSpPr/>
          <p:nvPr/>
        </p:nvSpPr>
        <p:spPr>
          <a:xfrm>
            <a:off x="5989320" y="550468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Materiallar hamkorga tayyor holda taqdim etiladi.</a:t>
            </a:r>
            <a:endParaRPr lang="en-US" sz="1150" dirty="0"/>
          </a:p>
        </p:txBody>
      </p:sp>
      <p:sp>
        <p:nvSpPr>
          <p:cNvPr id="34" name="Text 24"/>
          <p:cNvSpPr/>
          <p:nvPr/>
        </p:nvSpPr>
        <p:spPr>
          <a:xfrm>
            <a:off x="64008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MERGAN PRODUCTION</a:t>
            </a:r>
            <a:endParaRPr lang="en-US" sz="900" dirty="0"/>
          </a:p>
        </p:txBody>
      </p:sp>
      <p:sp>
        <p:nvSpPr>
          <p:cNvPr id="35" name="Text 25"/>
          <p:cNvSpPr/>
          <p:nvPr/>
        </p:nvSpPr>
        <p:spPr>
          <a:xfrm>
            <a:off x="10454335" y="6272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· NIMA UCHUN AYNAN SHU LOYIHA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8686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Uchta asosiy sabab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1280160"/>
          </a:xfrm>
          <a:prstGeom prst="roundRect">
            <a:avLst>
              <a:gd name="adj" fmla="val 7143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09397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011680" y="20574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Faol va organik auditoriya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852160" y="207568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62 400+ obunachi va millionlab ko‘rishlar sun’iy usullarsiz, kontent sifati hisobiga to‘plangan.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246120"/>
            <a:ext cx="10911535" cy="1280160"/>
          </a:xfrm>
          <a:prstGeom prst="roundRect">
            <a:avLst>
              <a:gd name="adj" fmla="val 7143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55701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011680" y="3520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Tabiiy integratsiya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852160" y="353872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Brend reklama bloki emas, voqea rivojining qismi sifatida namoyon bo‘ladi — tomoshabin uni o‘tkazib yubormaydi.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10911535" cy="1280160"/>
          </a:xfrm>
          <a:prstGeom prst="roundRect">
            <a:avLst>
              <a:gd name="adj" fmla="val 7143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502005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011680" y="49834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Barqaror chiqish grafigi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852160" y="500176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Yiliga 48 ta original son — brend uchun uzluksiz va oldindan rejalashtiriladigan efir.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62727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MERGAN PRODUCTION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454335" y="6272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ann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14">
              <a:alpha val="84000"/>
            </a:srgbClr>
          </a:solidFill>
          <a:ln w="6350">
            <a:solidFill>
              <a:srgbClr val="0D0D14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1280160" y="1600200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5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TAKLIF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280160" y="2148840"/>
            <a:ext cx="9601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Brendingizni millionlab tomoshabinlarga</a:t>
            </a:r>
            <a:endParaRPr lang="en-US" sz="3400" dirty="0"/>
          </a:p>
          <a:p>
            <a:pPr algn="ctr"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zamonaviy va tabiiy formatda taniting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914400" y="3886200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0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Sizni «Shunaqasi ham bo‘p turadi» loyihasining rasmiy hamkori bo‘lishga taklif qilamiz.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4544568" y="4709160"/>
            <a:ext cx="3108960" cy="731520"/>
          </a:xfrm>
          <a:prstGeom prst="roundRect">
            <a:avLst>
              <a:gd name="adj" fmla="val 15000"/>
            </a:avLst>
          </a:prstGeom>
          <a:solidFill>
            <a:srgbClr val="FF3B47"/>
          </a:solidFill>
          <a:ln w="9525">
            <a:solidFill>
              <a:srgbClr val="FF3B4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44568" y="4882896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HAMKOR BO‘LISH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1097280"/>
            <a:ext cx="5669280" cy="5669280"/>
          </a:xfrm>
          <a:prstGeom prst="ellipse">
            <a:avLst/>
          </a:prstGeom>
          <a:solidFill>
            <a:srgbClr val="0D0D14"/>
          </a:solidFill>
          <a:ln w="12700">
            <a:solidFill>
              <a:srgbClr val="1E1E2A"/>
            </a:solidFill>
            <a:prstDash val="solid"/>
          </a:ln>
        </p:spPr>
      </p:sp>
      <p:pic>
        <p:nvPicPr>
          <p:cNvPr id="3" name="Image 0" descr="assets/post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371600"/>
            <a:ext cx="2377440" cy="31546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7548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MERGAN PRODUCTION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512064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2A2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Hamkorlik shartlari va narxlar bo‘yicha to‘liq ma’lumot uchun biz bilan bog‘laning.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46520" y="1371600"/>
            <a:ext cx="5102352" cy="3154680"/>
          </a:xfrm>
          <a:prstGeom prst="roundRect">
            <a:avLst>
              <a:gd name="adj" fmla="val 2899"/>
            </a:avLst>
          </a:prstGeom>
          <a:solidFill>
            <a:srgbClr val="191922"/>
          </a:solidFill>
          <a:ln w="9525">
            <a:solidFill>
              <a:srgbClr val="2E2E3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12280" y="2103120"/>
            <a:ext cx="658368" cy="658368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6623" y="2287463"/>
            <a:ext cx="289682" cy="28968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680960" y="20574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Telefon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7680960" y="236829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+998 95 124 44 84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812280" y="2926080"/>
            <a:ext cx="4416552" cy="9144"/>
          </a:xfrm>
          <a:prstGeom prst="rect">
            <a:avLst/>
          </a:prstGeom>
          <a:solidFill>
            <a:srgbClr val="2E2E3D"/>
          </a:solidFill>
          <a:ln w="6350">
            <a:solidFill>
              <a:srgbClr val="2E2E3D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12280" y="3383280"/>
            <a:ext cx="658368" cy="658368"/>
          </a:xfrm>
          <a:prstGeom prst="ellipse">
            <a:avLst/>
          </a:prstGeom>
          <a:solidFill>
            <a:srgbClr val="0D0D14"/>
          </a:solidFill>
          <a:ln w="9525">
            <a:solidFill>
              <a:srgbClr val="2E2E3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6623" y="3567623"/>
            <a:ext cx="289682" cy="28968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680960" y="33375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YouTube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7680960" y="364845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Mergan Production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40080" y="62727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C6C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MERGAN PRODUCTION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Mergan Production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Shunaqasi ham bo'p turadi — Kommersiya taklifi</dc:title>
  <dc:subject>PptxGenJS Presentation</dc:subject>
  <dc:creator>Mergan Production</dc:creator>
  <cp:lastModifiedBy>Mergan Production</cp:lastModifiedBy>
  <cp:revision>1</cp:revision>
  <dcterms:created xsi:type="dcterms:W3CDTF">2026-08-02T14:03:50Z</dcterms:created>
  <dcterms:modified xsi:type="dcterms:W3CDTF">2026-08-02T14:03:50Z</dcterms:modified>
</cp:coreProperties>
</file>