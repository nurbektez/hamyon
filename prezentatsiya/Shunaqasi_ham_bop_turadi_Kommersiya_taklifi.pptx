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FFC93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C93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C9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C93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18–24</c:v>
                  </c:pt>
                  <c:pt idx="1">
                    <c:v>25–34</c:v>
                  </c:pt>
                  <c:pt idx="2">
                    <c:v>35–44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31</c:v>
                </c:pt>
                <c:pt idx="2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2A2B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91922"/>
        </a:solidFill>
        <a:ln>
          <a:noFill/>
        </a:ln>
        <a:effectLst/>
      </c:spPr>
    </c:plotArea>
    <c:plotVisOnly val="1"/>
    <c:dispBlanksAs val="span"/>
  </c:chart>
  <c:spPr>
    <a:solidFill>
      <a:srgbClr val="19192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Davlatlar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93C"/>
              </a:solidFill>
              <a:effectLst/>
            </c:spPr>
          </c:dPt>
          <c:dPt>
            <c:idx val="1"/>
            <c:bubble3D val="0"/>
            <c:spPr>
              <a:solidFill>
                <a:srgbClr val="FF3B47"/>
              </a:solidFill>
              <a:effectLst/>
            </c:spPr>
          </c:dPt>
          <c:dPt>
            <c:idx val="2"/>
            <c:bubble3D val="0"/>
            <c:spPr>
              <a:solidFill>
                <a:srgbClr val="5B8DEF"/>
              </a:solidFill>
              <a:effectLst/>
            </c:spPr>
          </c:dPt>
          <c:dPt>
            <c:idx val="3"/>
            <c:bubble3D val="0"/>
            <c:spPr>
              <a:solidFill>
                <a:srgbClr val="8C8CA6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0D0D14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0D0D14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0D0D14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0D0D14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O‘zbekiston</c:v>
                </c:pt>
                <c:pt idx="1">
                  <c:v>Rossiya</c:v>
                </c:pt>
                <c:pt idx="2">
                  <c:v>Qirg‘iziston</c:v>
                </c:pt>
                <c:pt idx="3">
                  <c:v>Boshqa davlatlar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72</c:v>
                </c:pt>
                <c:pt idx="1">
                  <c:v>17</c:v>
                </c:pt>
                <c:pt idx="2">
                  <c:v>2</c:v>
                </c:pt>
                <c:pt idx="3">
                  <c:v>9</c:v>
                </c:pt>
              </c:numCache>
            </c:numRef>
          </c:val>
        </c:ser>
        <c:firstSliceAng val="0"/>
        <c:holeSize val="62"/>
      </c:doughnutChart>
      <c:spPr>
        <a:solidFill>
          <a:srgbClr val="191922"/>
        </a:solidFill>
        <a:ln>
          <a:noFill/>
        </a:ln>
        <a:effectLst/>
      </c:spPr>
    </c:plotArea>
    <c:plotVisOnly val="1"/>
    <c:dispBlanksAs val="span"/>
  </c:chart>
  <c:spPr>
    <a:solidFill>
      <a:srgbClr val="19192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0:00–0:10 | Kirish. Kamera 1 (umumiy plan).
Jalol: Assalomu alaykum! Sarvar: Assalomu alaykum!
Jalol: Biz sizlarga Mergan Production’ning yangi loyihasi — «Shunaqasi ham bo‘p turadi» komedik yashirin kamera shousini taqdim etamiz.
Montaj: loyiha logotipi, dynamic intro, studio kadrlari, Mergan Production logotipi.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0:10–0:25 | Loyiha haqida. Kamera 2.
Sarvar: Ushbu loyiha O‘zbekistonning mashhur estrada xonandalari, aktyorlari, blogerlari va taniqli shaxslariga uyushtiriladigan komedik yashirin kamera ko‘rsatuvidir.
Montaj: mashhur mehmonlar, yashirin kamera, kulgili reaksiyalar, prank jarayonlari.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0:25–0:40 | Format. Kamera 1.
Jalol: Har bir original son 15–20 daqiqa davom etadi va har hafta shanba kuni YouTube kanalimizda e’lon qilinadi.
Grafika: 15–20 daqiqa · Har hafta — Shanba · Oyiga 4 ta original son · Yiliga 48 ta original 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0:40–0:55 | YouTube kanali. Kamera 2.
Sarvar: Bugungi kunda Mergan Production YouTube kanalida 62 mingdan ortiq obunachi mavjud va kanalimizdagi kontent millionlab tomoshabinlarga yetib bormoqda.
Grafika: 62 400+ obunachi · YouTube Subscriber Counter.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0:55–1:15 | Statistika. Kamera 1.
Jalol: Kanalimizdagi videolar millionlab ko‘rishlarga erishgan va auditoriyamiz faol hamda organik tarzda shakllangan.
Grafika: 3,6 mln+ · 1 mln+ · 200 ming+.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0:55–1:15 | Statistika (davomi).
Auditoriya: erkaklar — 83%, ayollar — 16%.
Yosh: 18–24 — 14%, 25–34 — 31%, 35–44 — 27%.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0:55–1:15 | Statistika (davomi).
Davlatlar: O‘zbekiston — 72%, Rossiya — 17%, Qirg‘iziston — 2%. Qolgan ulush — boshqa davlatlar.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1:15–1:35 | Hamkorlik imkoniyatlari. Kamera 2.
Sarvar: Loyiha davomida homiy yoki hamkor brendi voqealar rivoji, studiya suhbati hamda sovg‘a topshirish jarayonida tabiiy tarzda namoyish etiladi.
Grafika: Product Placement · Logo · Boshlovchi tavsiyasi · Studio integratsiyasi · Sovg‘a topshirish.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1:35–1:50 | Qo‘shimcha qiymat. Kamera 1.
Jalol: Homiy yoki hamkor mashhur mehmon bilan tayyorlangan foto va video materiallardan o‘zining reklama kampaniyalari va ijtimoiy tarmoqlarida foydalanish huquqiga ega bo‘ladi.
Grafika: Instagram · Facebook · Telegram · YouTube · TikTok · LED ekranlar · Billboard.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Xulosaviy blok — homiy uchun asosiy argumentlar. Senariyning 1:50 dan oldingi qismida grafik tarzda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1:50–2:05 | Yakun. Kamera 1 + Kamera 2.
Sarvar: Agar siz ham brendingizni millionlab tomoshabinlarga zamonaviy va tabiiy formatda tanitishni istasangiz...
Jalol: Sizni «Shunaqasi ham bo‘p turadi» loyihasining rasmiy hamkori bo‘lishga taklif qilamiz.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2:05–2:15 | Kontakt. Qora fon.
MERGAN PRODUCTION · SHUNAQASI HAM BO‘P TURADI
Telefon / Telegram / Instagram / YouTube — yakuniy logotip animatsiyasi.
ESLATMA: telefon raqami va akkaunt manzillarini yakuniy ma’lumot bilan almashtiring.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371600"/>
            <a:ext cx="6949440" cy="6949440"/>
          </a:xfrm>
          <a:prstGeom prst="ellipse">
            <a:avLst/>
          </a:prstGeom>
          <a:solidFill>
            <a:srgbClr val="0D0D14"/>
          </a:solidFill>
          <a:ln w="12700">
            <a:solidFill>
              <a:srgbClr val="1E1E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1737360"/>
            <a:ext cx="5852160" cy="5852160"/>
          </a:xfrm>
          <a:prstGeom prst="ellipse">
            <a:avLst/>
          </a:prstGeom>
          <a:solidFill>
            <a:srgbClr val="0D0D14"/>
          </a:solidFill>
          <a:ln w="12700">
            <a:solidFill>
              <a:srgbClr val="1E1E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SHUNAQASI HAM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BO‘P TURADI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547872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Komedik yashirin kamera ko‘rsatuvi — O‘zbekistonning mashhur shaxslari ishtirokida.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617720"/>
            <a:ext cx="4160520" cy="868680"/>
          </a:xfrm>
          <a:prstGeom prst="roundRect">
            <a:avLst>
              <a:gd name="adj" fmla="val 12632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4828032"/>
            <a:ext cx="457200" cy="45720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4956048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08760" y="48006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KOMMERSIYA TAKLIFI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508760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Homiylik va hamkorlik dasturi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60920" y="1051560"/>
            <a:ext cx="4187952" cy="4754880"/>
          </a:xfrm>
          <a:prstGeom prst="roundRect">
            <a:avLst>
              <a:gd name="adj" fmla="val 3057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26680" y="1417320"/>
            <a:ext cx="201168" cy="201168"/>
          </a:xfrm>
          <a:prstGeom prst="ellipse">
            <a:avLst/>
          </a:prstGeom>
          <a:solidFill>
            <a:srgbClr val="FF3B47"/>
          </a:solidFill>
          <a:ln w="6350">
            <a:solidFill>
              <a:srgbClr val="FF3B4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0" y="1371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3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006840" y="2148840"/>
            <a:ext cx="914400" cy="914400"/>
          </a:xfrm>
          <a:prstGeom prst="ellipse">
            <a:avLst/>
          </a:prstGeom>
          <a:solidFill>
            <a:srgbClr val="212130"/>
          </a:solidFill>
          <a:ln w="12700">
            <a:solidFill>
              <a:srgbClr val="2E2E3D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237744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72668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62 400+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9464040" y="34838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obunachi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726680" y="3959352"/>
            <a:ext cx="3566160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726680" y="4206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 mln+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9464040" y="426110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yuqori ko‘rish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726680" y="4736592"/>
            <a:ext cx="3566160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726680" y="4983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9464040" y="50383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son — yiliga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LOYIHA HAQIDA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Yulduzlar ustidan komedik prank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Ushbu loyiha O‘zbekistonning mashhur estrada xonandalari, aktyorlari, blogerlari va taniqli shaxslariga uyushtiriladigan komedik yashirin kamera ko‘rsatuvidir.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4754880" cy="1371600"/>
          </a:xfrm>
          <a:prstGeom prst="roundRect">
            <a:avLst>
              <a:gd name="adj" fmla="val 6667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4617720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342" y="4796942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45537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Kutilmagan vaziyat — samimiy reaksiya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783080" y="5074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Kontentning asosiy kuchi — o‘ynalmagan emotsiya.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806440" y="1783080"/>
            <a:ext cx="2734056" cy="1828800"/>
          </a:xfrm>
          <a:prstGeom prst="roundRect">
            <a:avLst>
              <a:gd name="adj" fmla="val 5000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80760" y="2039112"/>
            <a:ext cx="621792" cy="621792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862" y="2213214"/>
            <a:ext cx="273588" cy="2735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080760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Mashhur mehmonlar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080760" y="3026664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Xonandalar, aktyorlar va blogerlar.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814816" y="1783080"/>
            <a:ext cx="2734056" cy="1828800"/>
          </a:xfrm>
          <a:prstGeom prst="roundRect">
            <a:avLst>
              <a:gd name="adj" fmla="val 5000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089136" y="2039112"/>
            <a:ext cx="621792" cy="621792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3238" y="2213214"/>
            <a:ext cx="273588" cy="2735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89136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Yashirin kamera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9089136" y="3026664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Mehmon uchun kutilmagan vaziyat.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806440" y="3840480"/>
            <a:ext cx="2734056" cy="1828800"/>
          </a:xfrm>
          <a:prstGeom prst="roundRect">
            <a:avLst>
              <a:gd name="adj" fmla="val 5000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080760" y="4096512"/>
            <a:ext cx="621792" cy="621792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862" y="4270614"/>
            <a:ext cx="273588" cy="2735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080760" y="48006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Kulgili reaksiyalar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6080760" y="5084064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Tabiiy, o‘ynalmagan emotsiyalar.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8814816" y="3840480"/>
            <a:ext cx="2734056" cy="1828800"/>
          </a:xfrm>
          <a:prstGeom prst="roundRect">
            <a:avLst>
              <a:gd name="adj" fmla="val 5000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089136" y="4096512"/>
            <a:ext cx="621792" cy="621792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3238" y="4270614"/>
            <a:ext cx="273588" cy="27358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089136" y="48006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Prank jarayoni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9089136" y="5084064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Puxta senariy va professional prodakshn.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FORMAT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 hafta — yangi son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original son 15–20 daqiqa davom etadi va har hafta shanba kuni Mergan Production YouTube kanalida e’lon qilinadi.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522144" cy="2377440"/>
          </a:xfrm>
          <a:prstGeom prst="roundRect">
            <a:avLst>
              <a:gd name="adj" fmla="val 3846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2761488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031" y="2945831"/>
            <a:ext cx="289682" cy="2896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56616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932688" y="416052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daqiqa davomiylik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36544" y="2468880"/>
            <a:ext cx="2522144" cy="2377440"/>
          </a:xfrm>
          <a:prstGeom prst="roundRect">
            <a:avLst>
              <a:gd name="adj" fmla="val 3846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729152" y="2761488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495" y="2945831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29152" y="356616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Shanba</a:t>
            </a:r>
            <a:endParaRPr lang="en-US" sz="3200" dirty="0"/>
          </a:p>
        </p:txBody>
      </p:sp>
      <p:sp>
        <p:nvSpPr>
          <p:cNvPr id="14" name="Text 10"/>
          <p:cNvSpPr/>
          <p:nvPr/>
        </p:nvSpPr>
        <p:spPr>
          <a:xfrm>
            <a:off x="3729152" y="416052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haftalik chiqish kuni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33008" y="2468880"/>
            <a:ext cx="2522144" cy="2377440"/>
          </a:xfrm>
          <a:prstGeom prst="roundRect">
            <a:avLst>
              <a:gd name="adj" fmla="val 3846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525616" y="2761488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959" y="2945831"/>
            <a:ext cx="289682" cy="28968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25616" y="356616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19" name="Text 14"/>
          <p:cNvSpPr/>
          <p:nvPr/>
        </p:nvSpPr>
        <p:spPr>
          <a:xfrm>
            <a:off x="6525616" y="416052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son — oyiga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9029471" y="2468880"/>
            <a:ext cx="2522144" cy="2377440"/>
          </a:xfrm>
          <a:prstGeom prst="roundRect">
            <a:avLst>
              <a:gd name="adj" fmla="val 3846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322079" y="2761488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6422" y="2945831"/>
            <a:ext cx="289682" cy="28968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22079" y="356616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3200" dirty="0"/>
          </a:p>
        </p:txBody>
      </p:sp>
      <p:sp>
        <p:nvSpPr>
          <p:cNvPr id="24" name="Text 18"/>
          <p:cNvSpPr/>
          <p:nvPr/>
        </p:nvSpPr>
        <p:spPr>
          <a:xfrm>
            <a:off x="9322079" y="416052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son — yiliga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40080" y="516636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960120" y="5367528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Barqaror chiqish grafigi — hamkor brend butun yil davomida efirda ko‘rinadi.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YOUTUBE KANALI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mingdan ortiq obunachi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74920" cy="4114800"/>
          </a:xfrm>
          <a:prstGeom prst="roundRect">
            <a:avLst>
              <a:gd name="adj" fmla="val 2222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148840"/>
            <a:ext cx="777240" cy="77724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9187" y="2366467"/>
            <a:ext cx="341986" cy="3419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31089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62 400+</a:t>
            </a:r>
            <a:endParaRPr lang="en-US" sz="5800" dirty="0"/>
          </a:p>
        </p:txBody>
      </p:sp>
      <p:sp>
        <p:nvSpPr>
          <p:cNvPr id="8" name="Text 5"/>
          <p:cNvSpPr/>
          <p:nvPr/>
        </p:nvSpPr>
        <p:spPr>
          <a:xfrm>
            <a:off x="1051560" y="40690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OBUNACHI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4434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Mergan Production rasmiy YouTube kanali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051560" y="4983480"/>
            <a:ext cx="4251960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513892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Obunachilar bazasi har bir yangi son bilan kengayib bormoqda.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035040" y="1783080"/>
            <a:ext cx="5513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Bugungi kunda Mergan Production YouTube kanalida 62 mingdan ortiq obunachi mavjud va kanalimizdagi kontent millionlab tomoshabinlarga yetib bormoqda.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3200400"/>
            <a:ext cx="5513832" cy="1234440"/>
          </a:xfrm>
          <a:prstGeom prst="roundRect">
            <a:avLst>
              <a:gd name="adj" fmla="val 7407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09360" y="3493008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582" y="3672230"/>
            <a:ext cx="281635" cy="28163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0" y="34381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Millionlab tomoshabin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132320" y="37673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Kontent kanal doirasidan tashqariga chiqib, keng auditoriyaga yetib boradi.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035040" y="4617720"/>
            <a:ext cx="5513832" cy="1234440"/>
          </a:xfrm>
          <a:prstGeom prst="roundRect">
            <a:avLst>
              <a:gd name="adj" fmla="val 7407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4910328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582" y="5089550"/>
            <a:ext cx="281635" cy="28163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132320" y="485546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Organik o‘sish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7132320" y="518464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Auditoriya sun’iy usullarsiz, kontent sifati hisobiga shakllangan.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KO‘RSATKICHLAR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Millionlab ko‘rishlar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Kanalimizdagi videolar millionlab ko‘rishlarga erishgan — auditoriyamiz faol hamda organik tarzda shakllangan.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454298" cy="3108960"/>
          </a:xfrm>
          <a:prstGeom prst="roundRect">
            <a:avLst>
              <a:gd name="adj" fmla="val 2941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2852928"/>
            <a:ext cx="731520" cy="73152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2378" y="3057754"/>
            <a:ext cx="321869" cy="3218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7552" y="3886200"/>
            <a:ext cx="27593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 mln+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987552" y="4617720"/>
            <a:ext cx="27593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 yuqori ko‘rish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87552" y="4956048"/>
            <a:ext cx="27593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Bitta videoning rekord natijasi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68698" y="2468880"/>
            <a:ext cx="3454298" cy="3108960"/>
          </a:xfrm>
          <a:prstGeom prst="roundRect">
            <a:avLst>
              <a:gd name="adj" fmla="val 2941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16170" y="2852928"/>
            <a:ext cx="731520" cy="73152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0996" y="3057754"/>
            <a:ext cx="321869" cy="3218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16170" y="3886200"/>
            <a:ext cx="27593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mln+</a:t>
            </a:r>
            <a:endParaRPr lang="en-US" sz="3800" dirty="0"/>
          </a:p>
        </p:txBody>
      </p:sp>
      <p:sp>
        <p:nvSpPr>
          <p:cNvPr id="15" name="Text 11"/>
          <p:cNvSpPr/>
          <p:nvPr/>
        </p:nvSpPr>
        <p:spPr>
          <a:xfrm>
            <a:off x="4716170" y="4617720"/>
            <a:ext cx="27593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Millionlik videolar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716170" y="4956048"/>
            <a:ext cx="27593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Muntazam takrorlanadigan daraja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097317" y="2468880"/>
            <a:ext cx="3454298" cy="3108960"/>
          </a:xfrm>
          <a:prstGeom prst="roundRect">
            <a:avLst>
              <a:gd name="adj" fmla="val 2941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44789" y="2852928"/>
            <a:ext cx="731520" cy="73152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9614" y="3057754"/>
            <a:ext cx="321869" cy="3218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44789" y="3886200"/>
            <a:ext cx="27593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ming+</a:t>
            </a:r>
            <a:endParaRPr lang="en-US" sz="3800" dirty="0"/>
          </a:p>
        </p:txBody>
      </p:sp>
      <p:sp>
        <p:nvSpPr>
          <p:cNvPr id="21" name="Text 16"/>
          <p:cNvSpPr/>
          <p:nvPr/>
        </p:nvSpPr>
        <p:spPr>
          <a:xfrm>
            <a:off x="8444789" y="4617720"/>
            <a:ext cx="27593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Barqaror ko‘rish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8444789" y="4956048"/>
            <a:ext cx="27593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yangi son uchun asos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AUDITORIYA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 tomosha qiladi?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572000" cy="4251960"/>
          </a:xfrm>
          <a:prstGeom prst="roundRect">
            <a:avLst>
              <a:gd name="adj" fmla="val 2151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Jins bo‘yicha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05840" y="2468880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5062" y="2648102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5237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Erkaklar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743200" y="243230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1005840" y="3218688"/>
            <a:ext cx="3840480" cy="146304"/>
          </a:xfrm>
          <a:prstGeom prst="roundRect">
            <a:avLst>
              <a:gd name="adj" fmla="val 50000"/>
            </a:avLst>
          </a:prstGeom>
          <a:solidFill>
            <a:srgbClr val="212130"/>
          </a:solidFill>
          <a:ln w="6350">
            <a:solidFill>
              <a:srgbClr val="21213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3218688"/>
            <a:ext cx="3187598" cy="146304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 w="6350">
            <a:solidFill>
              <a:srgbClr val="FFC93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" y="3794760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062" y="3973982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8496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Ayollar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743200" y="375818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3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1005840" y="4544568"/>
            <a:ext cx="3840480" cy="146304"/>
          </a:xfrm>
          <a:prstGeom prst="roundRect">
            <a:avLst>
              <a:gd name="adj" fmla="val 50000"/>
            </a:avLst>
          </a:prstGeom>
          <a:solidFill>
            <a:srgbClr val="212130"/>
          </a:solidFill>
          <a:ln w="6350">
            <a:solidFill>
              <a:srgbClr val="21213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05840" y="4544568"/>
            <a:ext cx="614477" cy="146304"/>
          </a:xfrm>
          <a:prstGeom prst="roundRect">
            <a:avLst>
              <a:gd name="adj" fmla="val 50000"/>
            </a:avLst>
          </a:prstGeom>
          <a:solidFill>
            <a:srgbClr val="FF3B47"/>
          </a:solidFill>
          <a:ln w="6350">
            <a:solidFill>
              <a:srgbClr val="FF3B4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05840" y="52303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6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Qolgan 1% — jinsi aniqlanmagan tomoshabinlar.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577840" y="1691640"/>
            <a:ext cx="5971032" cy="4251960"/>
          </a:xfrm>
          <a:prstGeom prst="roundRect">
            <a:avLst>
              <a:gd name="adj" fmla="val 2151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943600" y="19659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Yosh bo‘yicha taqsimot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5806440" y="2377440"/>
          <a:ext cx="551383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2" name="Text 17"/>
          <p:cNvSpPr/>
          <p:nvPr/>
        </p:nvSpPr>
        <p:spPr>
          <a:xfrm>
            <a:off x="5943600" y="52303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C6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Asosiy auditoriya — 25–44 yosh: to‘lovga qodir, faol iste’molchi qatlam.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GEOGRAFIYA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Auditoriya qayerdan tomosha qiladi?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577840" cy="4023360"/>
          </a:xfrm>
          <a:prstGeom prst="roundRect">
            <a:avLst>
              <a:gd name="adj" fmla="val 2273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537960" y="1783080"/>
            <a:ext cx="5010912" cy="4023360"/>
          </a:xfrm>
          <a:prstGeom prst="roundRect">
            <a:avLst>
              <a:gd name="adj" fmla="val 2273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2103120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2343" y="2287463"/>
            <a:ext cx="289682" cy="2896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68096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Asosiy bozor — O‘zbekiston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858000" y="3246120"/>
            <a:ext cx="146304" cy="146304"/>
          </a:xfrm>
          <a:prstGeom prst="ellipse">
            <a:avLst/>
          </a:prstGeom>
          <a:solidFill>
            <a:srgbClr val="FFC93C"/>
          </a:solidFill>
          <a:ln w="6350">
            <a:solidFill>
              <a:srgbClr val="FFC93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178040" y="31546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O‘zbekiston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692640" y="31363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858000" y="3611880"/>
            <a:ext cx="4389120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858000" y="3867912"/>
            <a:ext cx="146304" cy="146304"/>
          </a:xfrm>
          <a:prstGeom prst="ellipse">
            <a:avLst/>
          </a:prstGeom>
          <a:solidFill>
            <a:srgbClr val="FF3B47"/>
          </a:solidFill>
          <a:ln w="6350">
            <a:solidFill>
              <a:srgbClr val="FF3B4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178040" y="377647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Rossiya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9692640" y="375818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3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858000" y="4233672"/>
            <a:ext cx="4389120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858000" y="4489704"/>
            <a:ext cx="146304" cy="146304"/>
          </a:xfrm>
          <a:prstGeom prst="ellipse">
            <a:avLst/>
          </a:prstGeom>
          <a:solidFill>
            <a:srgbClr val="5B8DEF"/>
          </a:solidFill>
          <a:ln w="6350">
            <a:solidFill>
              <a:srgbClr val="5B8DE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78040" y="439826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Qirg‘iziston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9692640" y="437997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858000" y="4855464"/>
            <a:ext cx="4389120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58000" y="5111496"/>
            <a:ext cx="146304" cy="146304"/>
          </a:xfrm>
          <a:prstGeom prst="ellipse">
            <a:avLst/>
          </a:prstGeom>
          <a:solidFill>
            <a:srgbClr val="8C8CA6"/>
          </a:solidFill>
          <a:ln w="6350">
            <a:solidFill>
              <a:srgbClr val="8C8CA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178040" y="502005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Boshqa davlatlar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9692640" y="500176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A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HAMKORLIK IMKONIYATLARI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Brendingiz voqea ichida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Loyiha davomida homiy yoki hamkor brendi voqealar rivoji, studiya suhbati hamda sovg‘a topshirish jarayonida tabiiy tarzda namoyish etiladi.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2478024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669" y="2647005"/>
            <a:ext cx="265542" cy="26554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1546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Placement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32688" y="3447288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Mahsulot voqea rivojining tabiiy qismiga aylanadi.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68698" y="224028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61306" y="2478024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288" y="2647005"/>
            <a:ext cx="265542" cy="26554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1306" y="31546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Logotip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61306" y="3447288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Brend logotipi video davomida va grafikada ko‘rinadi.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97317" y="224028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89925" y="2478024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906" y="2647005"/>
            <a:ext cx="265542" cy="26554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89925" y="31546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Boshlovchi tavsiyasi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389925" y="3447288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Jalol va Sarvar tomonidan jonli, ishonchli tavsiya.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32688" y="4489704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669" y="4658685"/>
            <a:ext cx="265542" cy="2655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2688" y="516636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integratsiyasi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32688" y="5458968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Studiya suhbatida brend haqida alohida blok.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4368698" y="425196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661306" y="4489704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0288" y="4658685"/>
            <a:ext cx="265542" cy="26554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61306" y="516636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Sovg‘a topshirish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4661306" y="5458968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Mehmonlarga brend sovg‘alari efir davomida topshiriladi.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097317" y="425196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FF3B47"/>
          </a:solidFill>
          <a:ln w="9525">
            <a:solidFill>
              <a:srgbClr val="FF3B47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8389925" y="4562856"/>
            <a:ext cx="286908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 bir son —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yangi imkoniyat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8389925" y="5458968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E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Formatlar birgalikda ham qo‘llaniladi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QO‘SHIMCHA QIYMAT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Kontentdan foydalanish huquqi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4663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Homiy yoki hamkor mashhur mehmon bilan tayyorlangan foto va video materiallardan o‘zining reklama kampaniyalari hamda ijtimoiy tarmoqlarida foydalanish huquqiga ega bo‘ladi.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343400"/>
            <a:ext cx="4663440" cy="1600200"/>
          </a:xfrm>
          <a:prstGeom prst="roundRect">
            <a:avLst>
              <a:gd name="adj" fmla="val 5714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4645152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4824374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55648" y="464515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Yulduz bilan kontent — qo‘shimcha to‘lovsiz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32688" y="53492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marta suratga olingan material — o‘nlab reklama nuqtasida ishlaydi.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0" y="1783080"/>
            <a:ext cx="5879592" cy="4160520"/>
          </a:xfrm>
          <a:prstGeom prst="roundRect">
            <a:avLst>
              <a:gd name="adj" fmla="val 219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057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FOYDALANISH KANALLARI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251460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77063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11112" y="278892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799832" y="251460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712" y="277063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21624" y="278892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9610344" y="251460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3224" y="2770632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232136" y="278892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989320" y="356616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22192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611112" y="384048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7799832" y="356616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2712" y="3822192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421624" y="384048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</a:t>
            </a:r>
            <a:endParaRPr lang="en-US" sz="1150" dirty="0"/>
          </a:p>
        </p:txBody>
      </p:sp>
      <p:sp>
        <p:nvSpPr>
          <p:cNvPr id="27" name="Shape 19"/>
          <p:cNvSpPr/>
          <p:nvPr/>
        </p:nvSpPr>
        <p:spPr>
          <a:xfrm>
            <a:off x="9610344" y="356616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93224" y="3822192"/>
            <a:ext cx="365760" cy="36576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0232136" y="384048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ekran</a:t>
            </a:r>
            <a:endParaRPr lang="en-US" sz="1150" dirty="0"/>
          </a:p>
        </p:txBody>
      </p:sp>
      <p:sp>
        <p:nvSpPr>
          <p:cNvPr id="30" name="Shape 21"/>
          <p:cNvSpPr/>
          <p:nvPr/>
        </p:nvSpPr>
        <p:spPr>
          <a:xfrm>
            <a:off x="5989320" y="461772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4873752"/>
            <a:ext cx="365760" cy="365760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6611112" y="489204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Billboard</a:t>
            </a:r>
            <a:endParaRPr lang="en-US" sz="1150" dirty="0"/>
          </a:p>
        </p:txBody>
      </p:sp>
      <p:sp>
        <p:nvSpPr>
          <p:cNvPr id="33" name="Text 23"/>
          <p:cNvSpPr/>
          <p:nvPr/>
        </p:nvSpPr>
        <p:spPr>
          <a:xfrm>
            <a:off x="5989320" y="550468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Materiallar hamkorga tayyor holda taqdim etiladi.</a:t>
            </a:r>
            <a:endParaRPr lang="en-US" sz="1150" dirty="0"/>
          </a:p>
        </p:txBody>
      </p:sp>
      <p:sp>
        <p:nvSpPr>
          <p:cNvPr id="34" name="Text 24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35" name="Text 25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NIMA UCHUN AYNAN SHU LOYIHA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Uchta asosiy sabab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1280160"/>
          </a:xfrm>
          <a:prstGeom prst="roundRect">
            <a:avLst>
              <a:gd name="adj" fmla="val 7143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939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2057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Faol va organik auditoriya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852160" y="207568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62 400+ obunachi va millionlab ko‘rishlar sun’iy usullarsiz, kontent sifati hisobiga to‘plangan.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10911535" cy="1280160"/>
          </a:xfrm>
          <a:prstGeom prst="roundRect">
            <a:avLst>
              <a:gd name="adj" fmla="val 7143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5570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011680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Tabiiy integratsiya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852160" y="353872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Brend reklama bloki emas, voqea rivojining qismi sifatida namoyon bo‘ladi — tomoshabin uni o‘tkazib yubormaydi.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11535" cy="1280160"/>
          </a:xfrm>
          <a:prstGeom prst="roundRect">
            <a:avLst>
              <a:gd name="adj" fmla="val 7143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02005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011680" y="4983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Barqaror chiqish grafigi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852160" y="50017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Yiliga 48 ta original son — brend uchun uzluksiz va oldindan rejalashtiriladigan efir.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3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2011680"/>
            <a:ext cx="6035040" cy="6035040"/>
          </a:xfrm>
          <a:prstGeom prst="ellipse">
            <a:avLst/>
          </a:prstGeom>
          <a:solidFill>
            <a:srgbClr val="FF3B47"/>
          </a:solidFill>
          <a:ln w="15875">
            <a:solidFill>
              <a:srgbClr val="D421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2926080"/>
            <a:ext cx="5852160" cy="5852160"/>
          </a:xfrm>
          <a:prstGeom prst="ellipse">
            <a:avLst/>
          </a:prstGeom>
          <a:solidFill>
            <a:srgbClr val="FF3B47"/>
          </a:solidFill>
          <a:ln w="15875">
            <a:solidFill>
              <a:srgbClr val="D421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160020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50" kern="0" dirty="0">
                <a:solidFill>
                  <a:srgbClr val="FFE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TAKLIF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80160" y="214884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Brendingizni millionlab tomoshabinlarga</a:t>
            </a:r>
            <a:endParaRPr lang="en-US" sz="34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zamonaviy va tabiiy formatda taniting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38862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Sizni «Shunaqasi ham bo‘p turadi» loyihasining rasmiy hamkori bo‘lishga taklif qilamiz.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44568" y="470916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44568" y="488289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HAMKOR BO‘LISH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097280"/>
            <a:ext cx="5669280" cy="5669280"/>
          </a:xfrm>
          <a:prstGeom prst="ellipse">
            <a:avLst/>
          </a:prstGeom>
          <a:solidFill>
            <a:srgbClr val="0D0D14"/>
          </a:solidFill>
          <a:ln w="12700">
            <a:solidFill>
              <a:srgbClr val="1E1E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3716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943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SHUNAQASI HAM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BO‘P TURADI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Hamkorlik shartlari va narxlar bo‘yicha to‘liq ma’lumot uchun biz bilan bog‘laning.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46520" y="1371600"/>
            <a:ext cx="5102352" cy="4114800"/>
          </a:xfrm>
          <a:prstGeom prst="roundRect">
            <a:avLst>
              <a:gd name="adj" fmla="val 2222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0" y="1847088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5541" y="2016069"/>
            <a:ext cx="265542" cy="2655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4380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54380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+998 __ ___ __ __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66560" y="2560320"/>
            <a:ext cx="4462272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66560" y="2807208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5541" y="2976189"/>
            <a:ext cx="265542" cy="26554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43800" y="2770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75438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____________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766560" y="3520440"/>
            <a:ext cx="4462272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766560" y="3767328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5541" y="3936309"/>
            <a:ext cx="265542" cy="26554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543800" y="37307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54380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____________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766560" y="4480560"/>
            <a:ext cx="4462272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66560" y="4727448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5541" y="4896429"/>
            <a:ext cx="265542" cy="26554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543800" y="46908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7543800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Mergan Production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640080" y="4526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62 400+</a:t>
            </a:r>
            <a:endParaRPr lang="en-US" sz="1900" dirty="0"/>
          </a:p>
        </p:txBody>
      </p:sp>
      <p:sp>
        <p:nvSpPr>
          <p:cNvPr id="27" name="Text 21"/>
          <p:cNvSpPr/>
          <p:nvPr/>
        </p:nvSpPr>
        <p:spPr>
          <a:xfrm>
            <a:off x="640080" y="49011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obunachi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2423160" y="4526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900" dirty="0"/>
          </a:p>
        </p:txBody>
      </p:sp>
      <p:sp>
        <p:nvSpPr>
          <p:cNvPr id="29" name="Text 23"/>
          <p:cNvSpPr/>
          <p:nvPr/>
        </p:nvSpPr>
        <p:spPr>
          <a:xfrm>
            <a:off x="2423160" y="49011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/ yil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4206240" y="4526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 mln+</a:t>
            </a:r>
            <a:endParaRPr lang="en-US" sz="1900" dirty="0"/>
          </a:p>
        </p:txBody>
      </p:sp>
      <p:sp>
        <p:nvSpPr>
          <p:cNvPr id="31" name="Text 25"/>
          <p:cNvSpPr/>
          <p:nvPr/>
        </p:nvSpPr>
        <p:spPr>
          <a:xfrm>
            <a:off x="4206240" y="49011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ko‘rish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64008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Mergan Production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Shunaqasi ham bo'p turadi — Kommersiya taklifi</dc:title>
  <dc:subject>PptxGenJS Presentation</dc:subject>
  <dc:creator>Mergan Production</dc:creator>
  <cp:lastModifiedBy>Mergan Production</cp:lastModifiedBy>
  <cp:revision>1</cp:revision>
  <dcterms:created xsi:type="dcterms:W3CDTF">2026-07-31T16:00:17Z</dcterms:created>
  <dcterms:modified xsi:type="dcterms:W3CDTF">2026-07-31T16:00:17Z</dcterms:modified>
</cp:coreProperties>
</file>